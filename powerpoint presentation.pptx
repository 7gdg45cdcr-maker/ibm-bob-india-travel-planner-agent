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4439" y="1720913"/>
            <a:ext cx="9723120" cy="1938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5587" y="224472"/>
            <a:ext cx="6713854" cy="700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6017" y="1247457"/>
            <a:ext cx="8780780" cy="355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2B354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545590" marR="5080" indent="-1533525">
              <a:lnSpc>
                <a:spcPts val="7130"/>
              </a:lnSpc>
              <a:spcBef>
                <a:spcPts val="1000"/>
              </a:spcBef>
            </a:pPr>
            <a:r>
              <a:rPr dirty="0" sz="6600">
                <a:latin typeface="Calibri"/>
                <a:cs typeface="Calibri"/>
              </a:rPr>
              <a:t>IBM</a:t>
            </a:r>
            <a:r>
              <a:rPr dirty="0" sz="6600" spc="-60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University</a:t>
            </a:r>
            <a:r>
              <a:rPr dirty="0" sz="6600" spc="-105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Engagement </a:t>
            </a:r>
            <a:r>
              <a:rPr dirty="0" sz="6600">
                <a:latin typeface="Calibri"/>
                <a:cs typeface="Calibri"/>
              </a:rPr>
              <a:t>Project</a:t>
            </a:r>
            <a:r>
              <a:rPr dirty="0" sz="6600" spc="-10">
                <a:latin typeface="Calibri"/>
                <a:cs typeface="Calibri"/>
              </a:rPr>
              <a:t> Submission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54554" y="4009072"/>
            <a:ext cx="84715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“Exploring</a:t>
            </a:r>
            <a:r>
              <a:rPr dirty="0" sz="2400" spc="-4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the</a:t>
            </a:r>
            <a:r>
              <a:rPr dirty="0" sz="2400" spc="-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Power of</a:t>
            </a:r>
            <a:r>
              <a:rPr dirty="0" sz="2400" spc="1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Agentic</a:t>
            </a:r>
            <a:r>
              <a:rPr dirty="0" sz="2400" spc="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dirty="0" sz="2400" spc="-2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with</a:t>
            </a:r>
            <a:r>
              <a:rPr dirty="0" sz="2400" spc="-4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z="2400" spc="-5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Granite</a:t>
            </a:r>
            <a:r>
              <a:rPr dirty="0" sz="2400" spc="-9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and</a:t>
            </a:r>
            <a:r>
              <a:rPr dirty="0" sz="2400" spc="-4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z="2400" spc="-4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spc="-20" b="1" i="1">
                <a:solidFill>
                  <a:srgbClr val="878787"/>
                </a:solidFill>
                <a:latin typeface="Calibri"/>
                <a:cs typeface="Calibri"/>
              </a:rPr>
              <a:t>Bob”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92860" y="2593975"/>
          <a:ext cx="9484360" cy="216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20"/>
                <a:gridCol w="2443480"/>
                <a:gridCol w="2443479"/>
                <a:gridCol w="2443479"/>
              </a:tblGrid>
              <a:tr h="972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0353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8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Name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6465" marR="363855" indent="-546735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 Passport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Photo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9502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Email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812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7540" marR="448945" indent="-165100">
                        <a:lnSpc>
                          <a:spcPct val="100800"/>
                        </a:lnSpc>
                        <a:spcBef>
                          <a:spcPts val="1610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number [WhatsApp]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044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algn="ctr" marL="461645" marR="447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CHOKKA. ABITHA KISHORE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abithachokka@gma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algn="ctr" marL="19685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Arial MT"/>
                          <a:cs typeface="Arial MT"/>
                        </a:rPr>
                        <a:t>il.com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+919030282169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85875" y="1534223"/>
            <a:ext cx="2972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Domain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3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–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6509" y="1535049"/>
            <a:ext cx="2897505" cy="4000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3045"/>
              </a:lnSpc>
            </a:pPr>
            <a:r>
              <a:rPr dirty="0" sz="2400" b="1">
                <a:latin typeface="Arial"/>
                <a:cs typeface="Arial"/>
              </a:rPr>
              <a:t>[</a:t>
            </a:r>
            <a:r>
              <a:rPr dirty="0" sz="2400" spc="135" b="1">
                <a:latin typeface="Arial"/>
                <a:cs typeface="Arial"/>
              </a:rPr>
              <a:t> </a:t>
            </a:r>
            <a:r>
              <a:rPr dirty="0" sz="2750" b="1">
                <a:latin typeface="Arial"/>
                <a:cs typeface="Arial"/>
              </a:rPr>
              <a:t>Transportation</a:t>
            </a:r>
            <a:r>
              <a:rPr dirty="0" sz="2750" spc="11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5875" y="624141"/>
            <a:ext cx="19221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Tile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–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277234" y="626237"/>
            <a:ext cx="3776979" cy="400050"/>
          </a:xfrm>
          <a:prstGeom prst="rect"/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1905">
              <a:lnSpc>
                <a:spcPts val="3035"/>
              </a:lnSpc>
            </a:pPr>
            <a:r>
              <a:rPr dirty="0">
                <a:latin typeface="Times New Roman"/>
                <a:cs typeface="Times New Roman"/>
              </a:rPr>
              <a:t>[</a:t>
            </a:r>
            <a:r>
              <a:rPr dirty="0" sz="2750"/>
              <a:t>Travel</a:t>
            </a:r>
            <a:r>
              <a:rPr dirty="0" sz="2750" spc="165"/>
              <a:t> </a:t>
            </a:r>
            <a:r>
              <a:rPr dirty="0" sz="2750"/>
              <a:t>Planner</a:t>
            </a:r>
            <a:r>
              <a:rPr dirty="0" sz="2750" spc="150"/>
              <a:t> </a:t>
            </a:r>
            <a:r>
              <a:rPr dirty="0" sz="2750" spc="-10"/>
              <a:t>Agent</a:t>
            </a:r>
            <a:r>
              <a:rPr dirty="0" spc="-10">
                <a:latin typeface="Times New Roman"/>
                <a:cs typeface="Times New Roman"/>
              </a:rPr>
              <a:t>]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0475" y="3524250"/>
            <a:ext cx="13049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319" y="1259903"/>
            <a:ext cx="10293985" cy="4391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5"/>
              </a:spcBef>
            </a:pPr>
            <a:r>
              <a:rPr dirty="0" sz="1800" b="1">
                <a:latin typeface="Arial"/>
                <a:cs typeface="Arial"/>
              </a:rPr>
              <a:t>Problem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Statement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: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Travel</a:t>
            </a:r>
            <a:r>
              <a:rPr dirty="0" sz="2000" spc="-1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Agent</a:t>
            </a:r>
            <a:endParaRPr sz="2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705"/>
              </a:spcBef>
            </a:pP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Challenge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algn="just" marL="12700" marR="1045210">
              <a:lnSpc>
                <a:spcPts val="2100"/>
              </a:lnSpc>
              <a:spcBef>
                <a:spcPts val="140"/>
              </a:spcBef>
            </a:pPr>
            <a:r>
              <a:rPr dirty="0" sz="1800" i="1">
                <a:latin typeface="Arial"/>
                <a:cs typeface="Arial"/>
              </a:rPr>
              <a:t>A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Planner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Agent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AI-powered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assistant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that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helps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users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plan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trips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efficiently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25" i="1">
                <a:latin typeface="Arial"/>
                <a:cs typeface="Arial"/>
              </a:rPr>
              <a:t>and </a:t>
            </a:r>
            <a:r>
              <a:rPr dirty="0" sz="1800" spc="-10" i="1">
                <a:latin typeface="Arial"/>
                <a:cs typeface="Arial"/>
              </a:rPr>
              <a:t>intelligently.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800" b="1" i="1">
                <a:latin typeface="Arial"/>
                <a:cs typeface="Arial"/>
              </a:rPr>
              <a:t>The</a:t>
            </a:r>
            <a:r>
              <a:rPr dirty="0" sz="1800" spc="-40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Objective:</a:t>
            </a:r>
            <a:endParaRPr sz="1800">
              <a:latin typeface="Arial"/>
              <a:cs typeface="Arial"/>
            </a:endParaRPr>
          </a:p>
          <a:p>
            <a:pPr algn="just" marL="12700" marR="5080">
              <a:lnSpc>
                <a:spcPct val="99100"/>
              </a:lnSpc>
              <a:spcBef>
                <a:spcPts val="35"/>
              </a:spcBef>
            </a:pPr>
            <a:r>
              <a:rPr dirty="0" sz="1800" i="1">
                <a:latin typeface="Arial"/>
                <a:cs typeface="Arial"/>
              </a:rPr>
              <a:t>To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develop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AI-</a:t>
            </a:r>
            <a:r>
              <a:rPr dirty="0" sz="1800" i="1">
                <a:latin typeface="Arial"/>
                <a:cs typeface="Arial"/>
              </a:rPr>
              <a:t>powered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India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Agent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that</a:t>
            </a:r>
            <a:r>
              <a:rPr dirty="0" sz="1800" spc="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helps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users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plan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personalized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trips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across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India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25" i="1">
                <a:latin typeface="Arial"/>
                <a:cs typeface="Arial"/>
              </a:rPr>
              <a:t>by </a:t>
            </a:r>
            <a:r>
              <a:rPr dirty="0" sz="1800" i="1">
                <a:latin typeface="Arial"/>
                <a:cs typeface="Arial"/>
              </a:rPr>
              <a:t>providing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destination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recommendations,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customized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itineraries,</a:t>
            </a:r>
            <a:r>
              <a:rPr dirty="0" sz="1800" spc="-7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budget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estimation,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suggestions, </a:t>
            </a:r>
            <a:r>
              <a:rPr dirty="0" sz="1800" i="1">
                <a:latin typeface="Arial"/>
                <a:cs typeface="Arial"/>
              </a:rPr>
              <a:t>and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interactive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assistance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through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intelligent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conversational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interface.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Develop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intelligent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planning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platform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for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India.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Generate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personalized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itineraries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based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on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user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preferences.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Provide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budget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estimation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and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trip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planning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assistance.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Recommend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suitable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destinations,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activities, and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options.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3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Enable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users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to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interact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with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</a:t>
            </a:r>
            <a:r>
              <a:rPr dirty="0" sz="1800" spc="2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AI-</a:t>
            </a:r>
            <a:r>
              <a:rPr dirty="0" sz="1800" i="1">
                <a:latin typeface="Arial"/>
                <a:cs typeface="Arial"/>
              </a:rPr>
              <a:t>powered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travel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assistant.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i="1">
                <a:latin typeface="Arial"/>
                <a:cs typeface="Arial"/>
              </a:rPr>
              <a:t>Provide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professional,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responsive,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and</a:t>
            </a:r>
            <a:r>
              <a:rPr dirty="0" sz="1800" spc="-3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user-</a:t>
            </a:r>
            <a:r>
              <a:rPr dirty="0" sz="1800" i="1">
                <a:latin typeface="Arial"/>
                <a:cs typeface="Arial"/>
              </a:rPr>
              <a:t>friendly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web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interface.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5319" y="728662"/>
            <a:ext cx="299212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00"/>
              <a:t> </a:t>
            </a:r>
            <a:r>
              <a:rPr dirty="0"/>
              <a:t>Statement</a:t>
            </a:r>
            <a:r>
              <a:rPr dirty="0" spc="-4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319" y="1259522"/>
            <a:ext cx="10236200" cy="49460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Arial"/>
                <a:cs typeface="Arial"/>
              </a:rPr>
              <a:t>Proposed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Solution: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Powered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India</a:t>
            </a:r>
            <a:r>
              <a:rPr dirty="0" sz="1400" spc="-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Agent</a:t>
            </a:r>
            <a:endParaRPr sz="1400">
              <a:latin typeface="Arial"/>
              <a:cs typeface="Arial"/>
            </a:endParaRPr>
          </a:p>
          <a:p>
            <a:pPr marL="12700" marR="25400">
              <a:lnSpc>
                <a:spcPts val="1650"/>
              </a:lnSpc>
              <a:spcBef>
                <a:spcPts val="130"/>
              </a:spcBef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proposed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solution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powered</a:t>
            </a:r>
            <a:r>
              <a:rPr dirty="0" sz="1400" spc="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India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designed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personalized,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intelligent,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interactive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travel </a:t>
            </a:r>
            <a:r>
              <a:rPr dirty="0" sz="1400">
                <a:latin typeface="Arial MT"/>
                <a:cs typeface="Arial MT"/>
              </a:rPr>
              <a:t>planning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assistance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IBM</a:t>
            </a:r>
            <a:r>
              <a:rPr dirty="0" sz="1400" spc="-1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watsonx.ai, IBM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Bob,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Granite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Models</a:t>
            </a:r>
            <a:r>
              <a:rPr dirty="0" sz="1400" spc="-1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05"/>
              </a:lnSpc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addresses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common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challenges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 travel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planning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such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destination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selection,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itinerary creation,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budget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45"/>
              </a:spcBef>
            </a:pPr>
            <a:r>
              <a:rPr dirty="0" sz="1400" b="1">
                <a:latin typeface="Arial"/>
                <a:cs typeface="Arial"/>
              </a:rPr>
              <a:t>management,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personalized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recommendations</a:t>
            </a:r>
            <a:r>
              <a:rPr dirty="0" sz="1400" spc="-1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dirty="0" sz="1400">
                <a:latin typeface="Arial MT"/>
                <a:cs typeface="Arial MT"/>
              </a:rPr>
              <a:t>At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core,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solution uses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powered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conversational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interface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understand user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requirements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customized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destination,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duration,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budget,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preferences.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570"/>
              </a:lnSpc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system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provides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following</a:t>
            </a:r>
            <a:r>
              <a:rPr dirty="0" sz="1400" spc="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key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capabilities:</a:t>
            </a:r>
            <a:endParaRPr sz="1400">
              <a:latin typeface="Arial"/>
              <a:cs typeface="Arial"/>
            </a:endParaRPr>
          </a:p>
          <a:p>
            <a:pPr marL="298450" marR="86995" indent="-286385">
              <a:lnSpc>
                <a:spcPts val="173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400" spc="-10" b="1">
                <a:latin typeface="Arial"/>
                <a:cs typeface="Arial"/>
              </a:rPr>
              <a:t>Destination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Recommendation Agent</a:t>
            </a:r>
            <a:r>
              <a:rPr dirty="0" sz="1400" spc="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Suggests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suitable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Indian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destinations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interests,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budget,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duration,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and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style.</a:t>
            </a:r>
            <a:endParaRPr sz="1400">
              <a:latin typeface="Arial MT"/>
              <a:cs typeface="Arial MT"/>
            </a:endParaRPr>
          </a:p>
          <a:p>
            <a:pPr marL="298450" indent="-285750">
              <a:lnSpc>
                <a:spcPts val="1585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400" b="1">
                <a:latin typeface="Arial"/>
                <a:cs typeface="Arial"/>
              </a:rPr>
              <a:t>Itinerary Planning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Generates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structured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 b="1">
                <a:latin typeface="Arial"/>
                <a:cs typeface="Arial"/>
              </a:rPr>
              <a:t>day-</a:t>
            </a:r>
            <a:r>
              <a:rPr dirty="0" sz="1400" b="1">
                <a:latin typeface="Arial"/>
                <a:cs typeface="Arial"/>
              </a:rPr>
              <a:t>wise travel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itineraries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recommended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places,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activities,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298450">
              <a:lnSpc>
                <a:spcPts val="1664"/>
              </a:lnSpc>
              <a:spcBef>
                <a:spcPts val="50"/>
              </a:spcBef>
            </a:pPr>
            <a:r>
              <a:rPr dirty="0" sz="1400" spc="-10">
                <a:latin typeface="Arial MT"/>
                <a:cs typeface="Arial MT"/>
              </a:rPr>
              <a:t>schedules.</a:t>
            </a:r>
            <a:endParaRPr sz="1400">
              <a:latin typeface="Arial MT"/>
              <a:cs typeface="Arial MT"/>
            </a:endParaRPr>
          </a:p>
          <a:p>
            <a:pPr marL="298450" indent="-285750">
              <a:lnSpc>
                <a:spcPts val="165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400" b="1">
                <a:latin typeface="Arial"/>
                <a:cs typeface="Arial"/>
              </a:rPr>
              <a:t>Budget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Planning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estimated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trip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costs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organizes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expenses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according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user's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selected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budget.</a:t>
            </a:r>
            <a:endParaRPr sz="1400">
              <a:latin typeface="Arial MT"/>
              <a:cs typeface="Arial MT"/>
            </a:endParaRP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Information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useful information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about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destinations,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attractions,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seasons,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activities,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travel </a:t>
            </a:r>
            <a:r>
              <a:rPr dirty="0" sz="1400" spc="-10">
                <a:latin typeface="Arial MT"/>
                <a:cs typeface="Arial MT"/>
              </a:rPr>
              <a:t>tips.</a:t>
            </a:r>
            <a:endParaRPr sz="1400">
              <a:latin typeface="Arial MT"/>
              <a:cs typeface="Arial MT"/>
            </a:endParaRPr>
          </a:p>
          <a:p>
            <a:pPr marL="298450" marR="424180" indent="-286385">
              <a:lnSpc>
                <a:spcPts val="165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400" b="1">
                <a:latin typeface="Arial"/>
                <a:cs typeface="Arial"/>
              </a:rPr>
              <a:t>AI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Conversational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Assistant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Enables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interact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naturally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refine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their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trip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through conversation.</a:t>
            </a:r>
            <a:endParaRPr sz="1400">
              <a:latin typeface="Arial MT"/>
              <a:cs typeface="Arial MT"/>
            </a:endParaRPr>
          </a:p>
          <a:p>
            <a:pPr marL="12700" marR="323850">
              <a:lnSpc>
                <a:spcPts val="1650"/>
              </a:lnSpc>
              <a:spcBef>
                <a:spcPts val="80"/>
              </a:spcBef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solution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includes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professional,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responsive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web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dashboard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displays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 generated</a:t>
            </a:r>
            <a:r>
              <a:rPr dirty="0" sz="1400" spc="-10">
                <a:latin typeface="Arial MT"/>
                <a:cs typeface="Arial MT"/>
              </a:rPr>
              <a:t> itinerary,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trip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overview,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budget </a:t>
            </a:r>
            <a:r>
              <a:rPr dirty="0" sz="1400">
                <a:latin typeface="Arial MT"/>
                <a:cs typeface="Arial MT"/>
              </a:rPr>
              <a:t>summary,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tips,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responses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 an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easy-</a:t>
            </a:r>
            <a:r>
              <a:rPr dirty="0" sz="1400" spc="-10">
                <a:latin typeface="Arial MT"/>
                <a:cs typeface="Arial MT"/>
              </a:rPr>
              <a:t>to-</a:t>
            </a:r>
            <a:r>
              <a:rPr dirty="0" sz="1400">
                <a:latin typeface="Arial MT"/>
                <a:cs typeface="Arial MT"/>
              </a:rPr>
              <a:t>understand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format.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05"/>
              </a:lnSpc>
            </a:pPr>
            <a:r>
              <a:rPr dirty="0" sz="1400" b="1">
                <a:latin typeface="Arial"/>
                <a:cs typeface="Arial"/>
              </a:rPr>
              <a:t>IBM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Bob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assist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application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development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workflow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orchestration,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while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IBM</a:t>
            </a:r>
            <a:r>
              <a:rPr dirty="0" sz="1400" spc="-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watsonx.ai</a:t>
            </a:r>
            <a:r>
              <a:rPr dirty="0" sz="1400" spc="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 </a:t>
            </a:r>
            <a:r>
              <a:rPr dirty="0" sz="1400" spc="-10" b="1">
                <a:latin typeface="Arial"/>
                <a:cs typeface="Arial"/>
              </a:rPr>
              <a:t>Granite</a:t>
            </a:r>
            <a:endParaRPr sz="1400">
              <a:latin typeface="Arial"/>
              <a:cs typeface="Arial"/>
            </a:endParaRPr>
          </a:p>
          <a:p>
            <a:pPr marL="12700" marR="118110">
              <a:lnSpc>
                <a:spcPts val="1650"/>
              </a:lnSpc>
              <a:spcBef>
                <a:spcPts val="130"/>
              </a:spcBef>
            </a:pPr>
            <a:r>
              <a:rPr dirty="0" sz="1400" b="1">
                <a:latin typeface="Arial"/>
                <a:cs typeface="Arial"/>
              </a:rPr>
              <a:t>Models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capabilities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understanding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</a:t>
            </a:r>
            <a:r>
              <a:rPr dirty="0" sz="1400" spc="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requirements,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generating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recommendations,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creating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personalized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plans.</a:t>
            </a:r>
            <a:endParaRPr sz="1400">
              <a:latin typeface="Arial MT"/>
              <a:cs typeface="Arial MT"/>
            </a:endParaRPr>
          </a:p>
          <a:p>
            <a:pPr marL="12700" marR="629285">
              <a:lnSpc>
                <a:spcPts val="1650"/>
              </a:lnSpc>
              <a:spcBef>
                <a:spcPts val="80"/>
              </a:spcBef>
            </a:pPr>
            <a:r>
              <a:rPr dirty="0" sz="1400" b="1">
                <a:latin typeface="Arial"/>
                <a:cs typeface="Arial"/>
              </a:rPr>
              <a:t>Overall,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solution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delivers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</a:t>
            </a:r>
            <a:r>
              <a:rPr dirty="0" sz="1400" spc="-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end-</a:t>
            </a:r>
            <a:r>
              <a:rPr dirty="0" sz="1400" spc="-10" b="1">
                <a:latin typeface="Arial"/>
                <a:cs typeface="Arial"/>
              </a:rPr>
              <a:t>to-</a:t>
            </a:r>
            <a:r>
              <a:rPr dirty="0" sz="1400" b="1">
                <a:latin typeface="Arial"/>
                <a:cs typeface="Arial"/>
              </a:rPr>
              <a:t>end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intelligent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assistant that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simplifies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India</a:t>
            </a:r>
            <a:r>
              <a:rPr dirty="0" sz="1400" spc="-8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planning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through </a:t>
            </a:r>
            <a:r>
              <a:rPr dirty="0" sz="1400" b="1">
                <a:latin typeface="Arial"/>
                <a:cs typeface="Arial"/>
              </a:rPr>
              <a:t>personalized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recommendations, </a:t>
            </a:r>
            <a:r>
              <a:rPr dirty="0" sz="1400" spc="-10" b="1">
                <a:latin typeface="Arial"/>
                <a:cs typeface="Arial"/>
              </a:rPr>
              <a:t>itinerary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generation, budget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assistance,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9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conversational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AI.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5319" y="728662"/>
            <a:ext cx="291909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70"/>
              <a:t> </a:t>
            </a:r>
            <a:r>
              <a:rPr dirty="0"/>
              <a:t>Solution</a:t>
            </a:r>
            <a:r>
              <a:rPr dirty="0" spc="-45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179" rIns="0" bIns="0" rtlCol="0" vert="horz">
            <a:spAutoFit/>
          </a:bodyPr>
          <a:lstStyle/>
          <a:p>
            <a:pPr marL="61341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-114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614" y="1442148"/>
            <a:ext cx="10353040" cy="3390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200" b="1" i="1">
                <a:latin typeface="Arial"/>
                <a:cs typeface="Arial"/>
              </a:rPr>
              <a:t>IBM</a:t>
            </a:r>
            <a:r>
              <a:rPr dirty="0" sz="1800" spc="-50" b="1" i="1">
                <a:latin typeface="Arial"/>
                <a:cs typeface="Arial"/>
              </a:rPr>
              <a:t> </a:t>
            </a:r>
            <a:r>
              <a:rPr dirty="0" sz="1800" spc="-225" b="1" i="1">
                <a:latin typeface="Arial"/>
                <a:cs typeface="Arial"/>
              </a:rPr>
              <a:t>Bob</a:t>
            </a:r>
            <a:r>
              <a:rPr dirty="0" sz="1800" spc="15" b="1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2000" spc="-175" i="1">
                <a:latin typeface="Arial"/>
                <a:cs typeface="Arial"/>
              </a:rPr>
              <a:t>For</a:t>
            </a:r>
            <a:r>
              <a:rPr dirty="0" sz="2000" spc="-95" i="1">
                <a:latin typeface="Arial"/>
                <a:cs typeface="Arial"/>
              </a:rPr>
              <a:t> </a:t>
            </a:r>
            <a:r>
              <a:rPr dirty="0" sz="2000" spc="-170" i="1">
                <a:latin typeface="Arial"/>
                <a:cs typeface="Arial"/>
              </a:rPr>
              <a:t>AI-</a:t>
            </a:r>
            <a:r>
              <a:rPr dirty="0" sz="2000" spc="-175" i="1">
                <a:latin typeface="Arial"/>
                <a:cs typeface="Arial"/>
              </a:rPr>
              <a:t>assisted</a:t>
            </a:r>
            <a:r>
              <a:rPr dirty="0" sz="2000" spc="-90" i="1">
                <a:latin typeface="Arial"/>
                <a:cs typeface="Arial"/>
              </a:rPr>
              <a:t> </a:t>
            </a:r>
            <a:r>
              <a:rPr dirty="0" sz="2000" spc="-165" i="1">
                <a:latin typeface="Arial"/>
                <a:cs typeface="Arial"/>
              </a:rPr>
              <a:t>application</a:t>
            </a:r>
            <a:r>
              <a:rPr dirty="0" sz="2000" spc="-90" i="1">
                <a:latin typeface="Arial"/>
                <a:cs typeface="Arial"/>
              </a:rPr>
              <a:t> </a:t>
            </a:r>
            <a:r>
              <a:rPr dirty="0" sz="2000" spc="-190" i="1">
                <a:latin typeface="Arial"/>
                <a:cs typeface="Arial"/>
              </a:rPr>
              <a:t>development,</a:t>
            </a:r>
            <a:r>
              <a:rPr dirty="0" sz="2000" spc="-80" i="1">
                <a:latin typeface="Arial"/>
                <a:cs typeface="Arial"/>
              </a:rPr>
              <a:t> </a:t>
            </a:r>
            <a:r>
              <a:rPr dirty="0" sz="2000" spc="-204" i="1">
                <a:latin typeface="Arial"/>
                <a:cs typeface="Arial"/>
              </a:rPr>
              <a:t>code</a:t>
            </a:r>
            <a:r>
              <a:rPr dirty="0" sz="2000" spc="-15" i="1">
                <a:latin typeface="Arial"/>
                <a:cs typeface="Arial"/>
              </a:rPr>
              <a:t> </a:t>
            </a:r>
            <a:r>
              <a:rPr dirty="0" sz="2000" spc="-175" i="1">
                <a:latin typeface="Arial"/>
                <a:cs typeface="Arial"/>
              </a:rPr>
              <a:t>generation,</a:t>
            </a:r>
            <a:r>
              <a:rPr dirty="0" sz="2000" spc="-75" i="1">
                <a:latin typeface="Arial"/>
                <a:cs typeface="Arial"/>
              </a:rPr>
              <a:t> </a:t>
            </a:r>
            <a:r>
              <a:rPr dirty="0" sz="2000" spc="-210" i="1">
                <a:latin typeface="Arial"/>
                <a:cs typeface="Arial"/>
              </a:rPr>
              <a:t>and</a:t>
            </a:r>
            <a:r>
              <a:rPr dirty="0" sz="2000" spc="-95" i="1">
                <a:latin typeface="Arial"/>
                <a:cs typeface="Arial"/>
              </a:rPr>
              <a:t> </a:t>
            </a:r>
            <a:r>
              <a:rPr dirty="0" sz="2000" spc="-180" i="1">
                <a:latin typeface="Arial"/>
                <a:cs typeface="Arial"/>
              </a:rPr>
              <a:t>designing</a:t>
            </a:r>
            <a:r>
              <a:rPr dirty="0" sz="2000" spc="-90" i="1">
                <a:latin typeface="Arial"/>
                <a:cs typeface="Arial"/>
              </a:rPr>
              <a:t> </a:t>
            </a:r>
            <a:r>
              <a:rPr dirty="0" sz="2000" spc="-175" i="1">
                <a:latin typeface="Arial"/>
                <a:cs typeface="Arial"/>
              </a:rPr>
              <a:t>the</a:t>
            </a:r>
            <a:r>
              <a:rPr dirty="0" sz="2000" spc="-90" i="1">
                <a:latin typeface="Arial"/>
                <a:cs typeface="Arial"/>
              </a:rPr>
              <a:t> </a:t>
            </a:r>
            <a:r>
              <a:rPr dirty="0" sz="2000" spc="-60" i="1"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70" i="1">
                <a:latin typeface="Arial"/>
                <a:cs typeface="Arial"/>
              </a:rPr>
              <a:t>workflow.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200" b="1" i="1">
                <a:latin typeface="Arial"/>
                <a:cs typeface="Arial"/>
              </a:rPr>
              <a:t>IBM</a:t>
            </a:r>
            <a:r>
              <a:rPr dirty="0" sz="1800" spc="-60" b="1" i="1">
                <a:latin typeface="Arial"/>
                <a:cs typeface="Arial"/>
              </a:rPr>
              <a:t> </a:t>
            </a:r>
            <a:r>
              <a:rPr dirty="0" sz="1800" spc="-175" b="1" i="1">
                <a:latin typeface="Arial"/>
                <a:cs typeface="Arial"/>
              </a:rPr>
              <a:t>watsonx.ai</a:t>
            </a:r>
            <a:r>
              <a:rPr dirty="0" sz="1800" spc="35" b="1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170" i="1">
                <a:latin typeface="Arial"/>
                <a:cs typeface="Arial"/>
              </a:rPr>
              <a:t>For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integrating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30" i="1">
                <a:latin typeface="Arial"/>
                <a:cs typeface="Arial"/>
              </a:rPr>
              <a:t>utilizing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30" i="1">
                <a:latin typeface="Arial"/>
                <a:cs typeface="Arial"/>
              </a:rPr>
              <a:t>AI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models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to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85" i="1">
                <a:latin typeface="Arial"/>
                <a:cs typeface="Arial"/>
              </a:rPr>
              <a:t>power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30" i="1">
                <a:latin typeface="Arial"/>
                <a:cs typeface="Arial"/>
              </a:rPr>
              <a:t>intelligent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travel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assistance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content</a:t>
            </a:r>
            <a:r>
              <a:rPr dirty="0" sz="1800" spc="-60" i="1">
                <a:latin typeface="Arial"/>
                <a:cs typeface="Arial"/>
              </a:rPr>
              <a:t> generation.</a:t>
            </a:r>
            <a:endParaRPr sz="1800">
              <a:latin typeface="Arial"/>
              <a:cs typeface="Arial"/>
            </a:endParaRPr>
          </a:p>
          <a:p>
            <a:pPr marL="298450" marR="1193800" indent="-286385">
              <a:lnSpc>
                <a:spcPts val="2100"/>
              </a:lnSpc>
              <a:spcBef>
                <a:spcPts val="1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200" b="1" i="1">
                <a:latin typeface="Arial"/>
                <a:cs typeface="Arial"/>
              </a:rPr>
              <a:t>IBM</a:t>
            </a:r>
            <a:r>
              <a:rPr dirty="0" sz="1800" spc="-50" b="1" i="1">
                <a:latin typeface="Arial"/>
                <a:cs typeface="Arial"/>
              </a:rPr>
              <a:t> </a:t>
            </a:r>
            <a:r>
              <a:rPr dirty="0" sz="1800" spc="-175" b="1" i="1">
                <a:latin typeface="Arial"/>
                <a:cs typeface="Arial"/>
              </a:rPr>
              <a:t>Granite</a:t>
            </a:r>
            <a:r>
              <a:rPr dirty="0" sz="1800" spc="-90" b="1" i="1">
                <a:latin typeface="Arial"/>
                <a:cs typeface="Arial"/>
              </a:rPr>
              <a:t> </a:t>
            </a:r>
            <a:r>
              <a:rPr dirty="0" sz="1800" spc="-190" b="1" i="1">
                <a:latin typeface="Arial"/>
                <a:cs typeface="Arial"/>
              </a:rPr>
              <a:t>Models</a:t>
            </a:r>
            <a:r>
              <a:rPr dirty="0" sz="1800" spc="-45" b="1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For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natural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language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understanding,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reasoning,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generating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personalized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70" i="1">
                <a:latin typeface="Arial"/>
                <a:cs typeface="Arial"/>
              </a:rPr>
              <a:t>travel </a:t>
            </a:r>
            <a:r>
              <a:rPr dirty="0" sz="1800" spc="-185" i="1">
                <a:latin typeface="Arial"/>
                <a:cs typeface="Arial"/>
              </a:rPr>
              <a:t>recommendations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45" i="1">
                <a:latin typeface="Arial"/>
                <a:cs typeface="Arial"/>
              </a:rPr>
              <a:t> </a:t>
            </a:r>
            <a:r>
              <a:rPr dirty="0" sz="1800" spc="-55" i="1">
                <a:latin typeface="Arial"/>
                <a:cs typeface="Arial"/>
              </a:rPr>
              <a:t>itineraries.</a:t>
            </a:r>
            <a:endParaRPr sz="1800">
              <a:latin typeface="Arial"/>
              <a:cs typeface="Arial"/>
            </a:endParaRPr>
          </a:p>
          <a:p>
            <a:pPr marL="298450" marR="151130" indent="-286385">
              <a:lnSpc>
                <a:spcPts val="218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90" b="1" i="1">
                <a:latin typeface="Arial"/>
                <a:cs typeface="Arial"/>
              </a:rPr>
              <a:t>Python</a:t>
            </a:r>
            <a:r>
              <a:rPr dirty="0" sz="1800" spc="-105" b="1" i="1">
                <a:latin typeface="Arial"/>
                <a:cs typeface="Arial"/>
              </a:rPr>
              <a:t> </a:t>
            </a:r>
            <a:r>
              <a:rPr dirty="0" sz="1800" spc="-240" b="1" i="1">
                <a:latin typeface="Arial"/>
                <a:cs typeface="Arial"/>
              </a:rPr>
              <a:t>&amp;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spc="-180" b="1" i="1">
                <a:latin typeface="Arial"/>
                <a:cs typeface="Arial"/>
              </a:rPr>
              <a:t>Flask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For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developing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the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backend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services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handling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API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requests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between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the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215" i="1">
                <a:latin typeface="Arial"/>
                <a:cs typeface="Arial"/>
              </a:rPr>
              <a:t>web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application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25" i="1">
                <a:latin typeface="Arial"/>
                <a:cs typeface="Arial"/>
              </a:rPr>
              <a:t>AI </a:t>
            </a:r>
            <a:r>
              <a:rPr dirty="0" sz="1800" spc="-50" i="1"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spc="-200" b="1" i="1">
                <a:latin typeface="Arial"/>
                <a:cs typeface="Arial"/>
              </a:rPr>
              <a:t>HTML,</a:t>
            </a:r>
            <a:r>
              <a:rPr dirty="0" sz="1800" spc="-70" b="1" i="1">
                <a:latin typeface="Arial"/>
                <a:cs typeface="Arial"/>
              </a:rPr>
              <a:t> </a:t>
            </a:r>
            <a:r>
              <a:rPr dirty="0" sz="1800" spc="-240" b="1" i="1">
                <a:latin typeface="Arial"/>
                <a:cs typeface="Arial"/>
              </a:rPr>
              <a:t>CSS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spc="-240" b="1" i="1">
                <a:latin typeface="Arial"/>
                <a:cs typeface="Arial"/>
              </a:rPr>
              <a:t>&amp;</a:t>
            </a:r>
            <a:r>
              <a:rPr dirty="0" sz="1800" spc="-120" b="1" i="1">
                <a:latin typeface="Arial"/>
                <a:cs typeface="Arial"/>
              </a:rPr>
              <a:t> </a:t>
            </a:r>
            <a:r>
              <a:rPr dirty="0" sz="1800" spc="-165" b="1" i="1">
                <a:latin typeface="Arial"/>
                <a:cs typeface="Arial"/>
              </a:rPr>
              <a:t>JavaScript</a:t>
            </a:r>
            <a:r>
              <a:rPr dirty="0" sz="1800" spc="-90" b="1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For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building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the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responsive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user-</a:t>
            </a:r>
            <a:r>
              <a:rPr dirty="0" sz="1800" spc="-140" i="1">
                <a:latin typeface="Arial"/>
                <a:cs typeface="Arial"/>
              </a:rPr>
              <a:t>friendly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travel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agent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40" i="1">
                <a:latin typeface="Arial"/>
                <a:cs typeface="Arial"/>
              </a:rPr>
              <a:t>interface.</a:t>
            </a:r>
            <a:endParaRPr sz="1800">
              <a:latin typeface="Arial"/>
              <a:cs typeface="Arial"/>
            </a:endParaRPr>
          </a:p>
          <a:p>
            <a:pPr marL="298450" marR="5080" indent="-286385">
              <a:lnSpc>
                <a:spcPts val="2100"/>
              </a:lnSpc>
              <a:spcBef>
                <a:spcPts val="1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254" b="1" i="1">
                <a:latin typeface="Arial"/>
                <a:cs typeface="Arial"/>
              </a:rPr>
              <a:t>RAG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(Retrieval-</a:t>
            </a:r>
            <a:r>
              <a:rPr dirty="0" sz="1800" spc="-195" i="1">
                <a:latin typeface="Arial"/>
                <a:cs typeface="Arial"/>
              </a:rPr>
              <a:t>Augmented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Generation)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200" i="1">
                <a:latin typeface="Arial"/>
                <a:cs typeface="Arial"/>
              </a:rPr>
              <a:t>To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retrieve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relevant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travel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information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and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provide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more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accurate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and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05" i="1">
                <a:latin typeface="Arial"/>
                <a:cs typeface="Arial"/>
              </a:rPr>
              <a:t>context-</a:t>
            </a:r>
            <a:r>
              <a:rPr dirty="0" sz="1800" spc="-180" i="1">
                <a:latin typeface="Arial"/>
                <a:cs typeface="Arial"/>
              </a:rPr>
              <a:t>aware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70" i="1">
                <a:latin typeface="Arial"/>
                <a:cs typeface="Arial"/>
              </a:rPr>
              <a:t>responses.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2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spc="-215" b="1" i="1">
                <a:latin typeface="Arial"/>
                <a:cs typeface="Arial"/>
              </a:rPr>
              <a:t>REST</a:t>
            </a:r>
            <a:r>
              <a:rPr dirty="0" sz="1800" spc="-110" b="1" i="1">
                <a:latin typeface="Arial"/>
                <a:cs typeface="Arial"/>
              </a:rPr>
              <a:t> </a:t>
            </a:r>
            <a:r>
              <a:rPr dirty="0" sz="1800" spc="-180" b="1" i="1">
                <a:latin typeface="Arial"/>
                <a:cs typeface="Arial"/>
              </a:rPr>
              <a:t>APIs</a:t>
            </a:r>
            <a:r>
              <a:rPr dirty="0" sz="1800" spc="-75" b="1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For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communication</a:t>
            </a:r>
            <a:r>
              <a:rPr dirty="0" sz="1800" spc="-10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between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the</a:t>
            </a:r>
            <a:r>
              <a:rPr dirty="0" sz="1800" spc="-10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frontend,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backend,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AI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40" i="1"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90" b="1" i="1">
                <a:latin typeface="Arial"/>
                <a:cs typeface="Arial"/>
              </a:rPr>
              <a:t>Responsive</a:t>
            </a:r>
            <a:r>
              <a:rPr dirty="0" sz="1800" spc="-100" b="1" i="1">
                <a:latin typeface="Arial"/>
                <a:cs typeface="Arial"/>
              </a:rPr>
              <a:t> </a:t>
            </a:r>
            <a:r>
              <a:rPr dirty="0" sz="1800" spc="-225" b="1" i="1">
                <a:latin typeface="Arial"/>
                <a:cs typeface="Arial"/>
              </a:rPr>
              <a:t>Web</a:t>
            </a:r>
            <a:r>
              <a:rPr dirty="0" sz="1800" spc="-105" b="1" i="1">
                <a:latin typeface="Arial"/>
                <a:cs typeface="Arial"/>
              </a:rPr>
              <a:t> </a:t>
            </a:r>
            <a:r>
              <a:rPr dirty="0" sz="1800" spc="-180" b="1" i="1">
                <a:latin typeface="Arial"/>
                <a:cs typeface="Arial"/>
              </a:rPr>
              <a:t>Design</a:t>
            </a:r>
            <a:r>
              <a:rPr dirty="0" sz="1800" spc="-65" b="1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–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200" i="1">
                <a:latin typeface="Arial"/>
                <a:cs typeface="Arial"/>
              </a:rPr>
              <a:t>To</a:t>
            </a:r>
            <a:r>
              <a:rPr dirty="0" sz="1800" spc="-2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ensure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the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Travel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Agent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works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effectively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across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desktop,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25" i="1">
                <a:latin typeface="Arial"/>
                <a:cs typeface="Arial"/>
              </a:rPr>
              <a:t>tablet,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mobile</a:t>
            </a:r>
            <a:r>
              <a:rPr dirty="0" sz="1800" spc="-20" i="1">
                <a:latin typeface="Arial"/>
                <a:cs typeface="Arial"/>
              </a:rPr>
              <a:t> devices.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5462" y="301561"/>
            <a:ext cx="566356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Required</a:t>
            </a:r>
            <a:r>
              <a:rPr dirty="0" spc="-10"/>
              <a:t> </a:t>
            </a:r>
            <a:r>
              <a:rPr dirty="0"/>
              <a:t>Files</a:t>
            </a:r>
            <a:r>
              <a:rPr dirty="0" spc="-95"/>
              <a:t> </a:t>
            </a:r>
            <a:r>
              <a:rPr dirty="0"/>
              <a:t>created</a:t>
            </a:r>
            <a:r>
              <a:rPr dirty="0" spc="-80"/>
              <a:t> </a:t>
            </a:r>
            <a:r>
              <a:rPr dirty="0"/>
              <a:t>using</a:t>
            </a:r>
            <a:r>
              <a:rPr dirty="0" spc="-75"/>
              <a:t> </a:t>
            </a:r>
            <a:r>
              <a:rPr dirty="0"/>
              <a:t>IBM</a:t>
            </a:r>
            <a:r>
              <a:rPr dirty="0" spc="-20"/>
              <a:t> </a:t>
            </a:r>
            <a:r>
              <a:rPr dirty="0"/>
              <a:t>bob</a:t>
            </a:r>
            <a:r>
              <a:rPr dirty="0" spc="-10"/>
              <a:t> </a:t>
            </a:r>
            <a:r>
              <a:rPr dirty="0" spc="-50"/>
              <a:t>-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6750" y="771525"/>
            <a:ext cx="10915650" cy="5819775"/>
            <a:chOff x="666750" y="771525"/>
            <a:chExt cx="10915650" cy="5819775"/>
          </a:xfrm>
        </p:grpSpPr>
        <p:sp>
          <p:nvSpPr>
            <p:cNvPr id="4" name="object 4"/>
            <p:cNvSpPr/>
            <p:nvPr/>
          </p:nvSpPr>
          <p:spPr>
            <a:xfrm>
              <a:off x="4248150" y="2028825"/>
              <a:ext cx="5915025" cy="314325"/>
            </a:xfrm>
            <a:custGeom>
              <a:avLst/>
              <a:gdLst/>
              <a:ahLst/>
              <a:cxnLst/>
              <a:rect l="l" t="t" r="r" b="b"/>
              <a:pathLst>
                <a:path w="5915025" h="314325">
                  <a:moveTo>
                    <a:pt x="5915025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5915025" y="314325"/>
                  </a:lnTo>
                  <a:lnTo>
                    <a:pt x="5915025" y="0"/>
                  </a:lnTo>
                  <a:close/>
                </a:path>
              </a:pathLst>
            </a:custGeom>
            <a:solidFill>
              <a:srgbClr val="E71223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48150" y="2028825"/>
              <a:ext cx="5915025" cy="314325"/>
            </a:xfrm>
            <a:custGeom>
              <a:avLst/>
              <a:gdLst/>
              <a:ahLst/>
              <a:cxnLst/>
              <a:rect l="l" t="t" r="r" b="b"/>
              <a:pathLst>
                <a:path w="5915025" h="314325">
                  <a:moveTo>
                    <a:pt x="0" y="314325"/>
                  </a:moveTo>
                  <a:lnTo>
                    <a:pt x="5915025" y="314325"/>
                  </a:lnTo>
                  <a:lnTo>
                    <a:pt x="5915025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ln w="72000">
              <a:solidFill>
                <a:srgbClr val="E712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38313" y="1317879"/>
              <a:ext cx="742950" cy="693420"/>
            </a:xfrm>
            <a:custGeom>
              <a:avLst/>
              <a:gdLst/>
              <a:ahLst/>
              <a:cxnLst/>
              <a:rect l="l" t="t" r="r" b="b"/>
              <a:pathLst>
                <a:path w="742950" h="693419">
                  <a:moveTo>
                    <a:pt x="629792" y="0"/>
                  </a:moveTo>
                  <a:lnTo>
                    <a:pt x="69087" y="504825"/>
                  </a:lnTo>
                  <a:lnTo>
                    <a:pt x="12572" y="441960"/>
                  </a:lnTo>
                  <a:lnTo>
                    <a:pt x="0" y="680847"/>
                  </a:lnTo>
                  <a:lnTo>
                    <a:pt x="238886" y="693420"/>
                  </a:lnTo>
                  <a:lnTo>
                    <a:pt x="182371" y="630555"/>
                  </a:lnTo>
                  <a:lnTo>
                    <a:pt x="742950" y="125730"/>
                  </a:lnTo>
                  <a:lnTo>
                    <a:pt x="6297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38313" y="1317879"/>
              <a:ext cx="742950" cy="693420"/>
            </a:xfrm>
            <a:custGeom>
              <a:avLst/>
              <a:gdLst/>
              <a:ahLst/>
              <a:cxnLst/>
              <a:rect l="l" t="t" r="r" b="b"/>
              <a:pathLst>
                <a:path w="742950" h="693419">
                  <a:moveTo>
                    <a:pt x="742950" y="125730"/>
                  </a:moveTo>
                  <a:lnTo>
                    <a:pt x="182371" y="630555"/>
                  </a:lnTo>
                  <a:lnTo>
                    <a:pt x="238886" y="693420"/>
                  </a:lnTo>
                  <a:lnTo>
                    <a:pt x="0" y="680847"/>
                  </a:lnTo>
                  <a:lnTo>
                    <a:pt x="12572" y="441960"/>
                  </a:lnTo>
                  <a:lnTo>
                    <a:pt x="69087" y="504825"/>
                  </a:lnTo>
                  <a:lnTo>
                    <a:pt x="629792" y="0"/>
                  </a:lnTo>
                  <a:lnTo>
                    <a:pt x="742950" y="125730"/>
                  </a:lnTo>
                  <a:close/>
                </a:path>
              </a:pathLst>
            </a:custGeom>
            <a:ln w="254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" y="771525"/>
              <a:ext cx="10915650" cy="58197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456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41D39"/>
                </a:solidFill>
                <a:latin typeface="Times New Roman"/>
                <a:cs typeface="Times New Roman"/>
              </a:rPr>
              <a:t>IBM</a:t>
            </a:r>
            <a:r>
              <a:rPr dirty="0" spc="-45">
                <a:solidFill>
                  <a:srgbClr val="041D39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41D39"/>
                </a:solidFill>
                <a:latin typeface="Times New Roman"/>
                <a:cs typeface="Times New Roman"/>
              </a:rPr>
              <a:t>Bob</a:t>
            </a:r>
            <a:r>
              <a:rPr dirty="0" spc="-15">
                <a:solidFill>
                  <a:srgbClr val="041D39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041D39"/>
                </a:solidFill>
                <a:latin typeface="Times New Roman"/>
                <a:cs typeface="Times New Roman"/>
              </a:rPr>
              <a:t>Screenshots: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1057275"/>
            <a:ext cx="91821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9049"/>
            <a:ext cx="10972800" cy="6838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263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Architecture</a:t>
            </a:r>
            <a:r>
              <a:rPr dirty="0" spc="-3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blueprint</a:t>
            </a:r>
            <a:r>
              <a:rPr dirty="0" spc="-9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IBM</a:t>
            </a:r>
            <a:r>
              <a:rPr dirty="0" spc="-80">
                <a:latin typeface="Calibri"/>
                <a:cs typeface="Calibri"/>
              </a:rPr>
              <a:t> </a:t>
            </a:r>
            <a:r>
              <a:rPr dirty="0" spc="-20">
                <a:latin typeface="Calibri"/>
                <a:cs typeface="Calibri"/>
              </a:rPr>
              <a:t>bob: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761999"/>
            <a:ext cx="11020425" cy="6095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2475" y="1171575"/>
            <a:ext cx="3019425" cy="45148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852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130"/>
              </a:spcBef>
            </a:pPr>
            <a:r>
              <a:rPr dirty="0" sz="3200"/>
              <a:t>Role</a:t>
            </a:r>
            <a:r>
              <a:rPr dirty="0" sz="3200" spc="-30"/>
              <a:t> </a:t>
            </a:r>
            <a:r>
              <a:rPr dirty="0" sz="3200"/>
              <a:t>of</a:t>
            </a:r>
            <a:r>
              <a:rPr dirty="0" sz="3200" spc="10"/>
              <a:t> </a:t>
            </a:r>
            <a:r>
              <a:rPr dirty="0" sz="3200"/>
              <a:t>Agentic</a:t>
            </a:r>
            <a:r>
              <a:rPr dirty="0" sz="3200" spc="-30"/>
              <a:t> </a:t>
            </a:r>
            <a:r>
              <a:rPr dirty="0" sz="3200"/>
              <a:t>AI</a:t>
            </a:r>
            <a:r>
              <a:rPr dirty="0" sz="3200" spc="35"/>
              <a:t> </a:t>
            </a:r>
            <a:r>
              <a:rPr dirty="0" sz="3200"/>
              <a:t>in</a:t>
            </a:r>
            <a:r>
              <a:rPr dirty="0" sz="3200" spc="-55"/>
              <a:t> </a:t>
            </a:r>
            <a:r>
              <a:rPr dirty="0" sz="3200"/>
              <a:t>the</a:t>
            </a:r>
            <a:r>
              <a:rPr dirty="0" sz="3200" spc="-30"/>
              <a:t> </a:t>
            </a:r>
            <a:r>
              <a:rPr dirty="0" sz="3200" spc="-10"/>
              <a:t>solution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01040" y="1192466"/>
            <a:ext cx="7237095" cy="3810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Arial"/>
                <a:cs typeface="Arial"/>
              </a:rPr>
              <a:t>Role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Agentic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AI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Travel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Agent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dirty="0" sz="1800" spc="-165" i="1">
                <a:latin typeface="Arial"/>
                <a:cs typeface="Arial"/>
              </a:rPr>
              <a:t>Agentic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30" i="1">
                <a:latin typeface="Arial"/>
                <a:cs typeface="Arial"/>
              </a:rPr>
              <a:t>AI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enables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IBM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204" i="1">
                <a:latin typeface="Arial"/>
                <a:cs typeface="Arial"/>
              </a:rPr>
              <a:t>Bob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25" i="1">
                <a:latin typeface="Arial"/>
                <a:cs typeface="Arial"/>
              </a:rPr>
              <a:t>to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function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as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30" i="1">
                <a:latin typeface="Arial"/>
                <a:cs typeface="Arial"/>
              </a:rPr>
              <a:t>intelligent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85" i="1">
                <a:latin typeface="Arial"/>
                <a:cs typeface="Arial"/>
              </a:rPr>
              <a:t>autonomous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travel </a:t>
            </a:r>
            <a:r>
              <a:rPr dirty="0" sz="1800" spc="-160" i="1">
                <a:latin typeface="Arial"/>
                <a:cs typeface="Arial"/>
              </a:rPr>
              <a:t>planning</a:t>
            </a:r>
            <a:r>
              <a:rPr dirty="0" sz="1800" spc="-100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assistant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rather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than</a:t>
            </a:r>
            <a:r>
              <a:rPr dirty="0" sz="1800" spc="-2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simple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chatbot.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Using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IBM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watsonx.ai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75" i="1">
                <a:latin typeface="Arial"/>
                <a:cs typeface="Arial"/>
              </a:rPr>
              <a:t>specialized </a:t>
            </a:r>
            <a:r>
              <a:rPr dirty="0" sz="1800" spc="-135" i="1">
                <a:latin typeface="Arial"/>
                <a:cs typeface="Arial"/>
              </a:rPr>
              <a:t>travel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agents,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05" i="1">
                <a:latin typeface="Arial"/>
                <a:cs typeface="Arial"/>
              </a:rPr>
              <a:t>it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understands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user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preferences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such</a:t>
            </a:r>
            <a:r>
              <a:rPr dirty="0" sz="1800" spc="-10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destination,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duration,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budget,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travel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style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25" i="1">
                <a:latin typeface="Arial"/>
                <a:cs typeface="Arial"/>
              </a:rPr>
              <a:t>to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generate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personalized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travel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plans.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Each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agent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performs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specific </a:t>
            </a:r>
            <a:r>
              <a:rPr dirty="0" sz="1800" spc="-185" i="1">
                <a:latin typeface="Arial"/>
                <a:cs typeface="Arial"/>
              </a:rPr>
              <a:t>role—</a:t>
            </a:r>
            <a:r>
              <a:rPr dirty="0" sz="1800" spc="-175" i="1">
                <a:latin typeface="Arial"/>
                <a:cs typeface="Arial"/>
              </a:rPr>
              <a:t>such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as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searching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attractions,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checking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weather,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estimating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travel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costs,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finding </a:t>
            </a:r>
            <a:r>
              <a:rPr dirty="0" sz="1800" spc="-150" i="1">
                <a:latin typeface="Arial"/>
                <a:cs typeface="Arial"/>
              </a:rPr>
              <a:t>suitable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hotels,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generating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day-</a:t>
            </a:r>
            <a:r>
              <a:rPr dirty="0" sz="1800" spc="-180" i="1">
                <a:latin typeface="Arial"/>
                <a:cs typeface="Arial"/>
              </a:rPr>
              <a:t>wise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itineraries—while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working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together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to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55" i="1">
                <a:latin typeface="Arial"/>
                <a:cs typeface="Arial"/>
              </a:rPr>
              <a:t>provide </a:t>
            </a:r>
            <a:r>
              <a:rPr dirty="0" sz="1800" spc="-160" i="1">
                <a:latin typeface="Arial"/>
                <a:cs typeface="Arial"/>
              </a:rPr>
              <a:t>accurate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recommendations.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The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multi-</a:t>
            </a:r>
            <a:r>
              <a:rPr dirty="0" sz="1800" spc="-165" i="1">
                <a:latin typeface="Arial"/>
                <a:cs typeface="Arial"/>
              </a:rPr>
              <a:t>agent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approach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enables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efficient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task</a:t>
            </a:r>
            <a:r>
              <a:rPr dirty="0" sz="1800" i="1">
                <a:latin typeface="Arial"/>
                <a:cs typeface="Arial"/>
              </a:rPr>
              <a:t> </a:t>
            </a:r>
            <a:r>
              <a:rPr dirty="0" sz="1800" spc="-100" i="1">
                <a:latin typeface="Arial"/>
                <a:cs typeface="Arial"/>
              </a:rPr>
              <a:t>execution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better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decision-</a:t>
            </a:r>
            <a:r>
              <a:rPr dirty="0" sz="1800" spc="-165" i="1">
                <a:latin typeface="Arial"/>
                <a:cs typeface="Arial"/>
              </a:rPr>
              <a:t>making.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Agentic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AI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also</a:t>
            </a:r>
            <a:r>
              <a:rPr dirty="0" sz="180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provides</a:t>
            </a:r>
            <a:r>
              <a:rPr dirty="0" sz="180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context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awareness,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allowing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25" i="1">
                <a:latin typeface="Arial"/>
                <a:cs typeface="Arial"/>
              </a:rPr>
              <a:t>IBM </a:t>
            </a:r>
            <a:r>
              <a:rPr dirty="0" sz="1800" spc="-204" i="1">
                <a:latin typeface="Arial"/>
                <a:cs typeface="Arial"/>
              </a:rPr>
              <a:t>Bob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to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remember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the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conversation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adapt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85" i="1">
                <a:latin typeface="Arial"/>
                <a:cs typeface="Arial"/>
              </a:rPr>
              <a:t>recommendations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204" i="1">
                <a:latin typeface="Arial"/>
                <a:cs typeface="Arial"/>
              </a:rPr>
              <a:t>when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75" i="1">
                <a:latin typeface="Arial"/>
                <a:cs typeface="Arial"/>
              </a:rPr>
              <a:t>users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change </a:t>
            </a:r>
            <a:r>
              <a:rPr dirty="0" sz="1800" spc="-130" i="1">
                <a:latin typeface="Arial"/>
                <a:cs typeface="Arial"/>
              </a:rPr>
              <a:t>their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requirements.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Through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real-</a:t>
            </a:r>
            <a:r>
              <a:rPr dirty="0" sz="1800" spc="-170" i="1">
                <a:latin typeface="Arial"/>
                <a:cs typeface="Arial"/>
              </a:rPr>
              <a:t>time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tool</a:t>
            </a:r>
            <a:r>
              <a:rPr dirty="0" sz="1800" spc="-4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integration,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70" i="1">
                <a:latin typeface="Arial"/>
                <a:cs typeface="Arial"/>
              </a:rPr>
              <a:t>it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204" i="1">
                <a:latin typeface="Arial"/>
                <a:cs typeface="Arial"/>
              </a:rPr>
              <a:t>can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45" i="1">
                <a:latin typeface="Arial"/>
                <a:cs typeface="Arial"/>
              </a:rPr>
              <a:t>retrieve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updated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travel </a:t>
            </a:r>
            <a:r>
              <a:rPr dirty="0" sz="1800" spc="-155" i="1">
                <a:latin typeface="Arial"/>
                <a:cs typeface="Arial"/>
              </a:rPr>
              <a:t>information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continuously</a:t>
            </a:r>
            <a:r>
              <a:rPr dirty="0" sz="180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optimize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the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itinerary.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Overall,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Agentic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70" i="1">
                <a:latin typeface="Arial"/>
                <a:cs typeface="Arial"/>
              </a:rPr>
              <a:t>AI</a:t>
            </a:r>
            <a:r>
              <a:rPr dirty="0" sz="1800" spc="-50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makes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195" i="1">
                <a:latin typeface="Arial"/>
                <a:cs typeface="Arial"/>
              </a:rPr>
              <a:t>IBM</a:t>
            </a:r>
            <a:r>
              <a:rPr dirty="0" sz="1800" spc="-120" i="1">
                <a:latin typeface="Arial"/>
                <a:cs typeface="Arial"/>
              </a:rPr>
              <a:t> </a:t>
            </a:r>
            <a:r>
              <a:rPr dirty="0" sz="1800" spc="-80" i="1">
                <a:latin typeface="Arial"/>
                <a:cs typeface="Arial"/>
              </a:rPr>
              <a:t>Bob </a:t>
            </a:r>
            <a:r>
              <a:rPr dirty="0" sz="1800" spc="-150" i="1">
                <a:latin typeface="Arial"/>
                <a:cs typeface="Arial"/>
              </a:rPr>
              <a:t>proactive,</a:t>
            </a:r>
            <a:r>
              <a:rPr dirty="0" sz="1800" spc="-6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personalized,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40" i="1">
                <a:latin typeface="Arial"/>
                <a:cs typeface="Arial"/>
              </a:rPr>
              <a:t>goal-driven,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providing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users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55" i="1">
                <a:latin typeface="Arial"/>
                <a:cs typeface="Arial"/>
              </a:rPr>
              <a:t>with</a:t>
            </a:r>
            <a:r>
              <a:rPr dirty="0" sz="1800" spc="-95" i="1">
                <a:latin typeface="Arial"/>
                <a:cs typeface="Arial"/>
              </a:rPr>
              <a:t> </a:t>
            </a:r>
            <a:r>
              <a:rPr dirty="0" sz="1800" spc="-180" i="1">
                <a:latin typeface="Arial"/>
                <a:cs typeface="Arial"/>
              </a:rPr>
              <a:t>a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165" i="1">
                <a:latin typeface="Arial"/>
                <a:cs typeface="Arial"/>
              </a:rPr>
              <a:t>smarter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90" i="1">
                <a:latin typeface="Arial"/>
                <a:cs typeface="Arial"/>
              </a:rPr>
              <a:t>and</a:t>
            </a:r>
            <a:r>
              <a:rPr dirty="0" sz="1800" spc="-10" i="1">
                <a:latin typeface="Arial"/>
                <a:cs typeface="Arial"/>
              </a:rPr>
              <a:t> </a:t>
            </a:r>
            <a:r>
              <a:rPr dirty="0" sz="1800" spc="-20" i="1">
                <a:latin typeface="Arial"/>
                <a:cs typeface="Arial"/>
              </a:rPr>
              <a:t>more </a:t>
            </a:r>
            <a:r>
              <a:rPr dirty="0" sz="1800" spc="-165" i="1">
                <a:latin typeface="Arial"/>
                <a:cs typeface="Arial"/>
              </a:rPr>
              <a:t>convenient</a:t>
            </a:r>
            <a:r>
              <a:rPr dirty="0" sz="1800" spc="-55" i="1">
                <a:latin typeface="Arial"/>
                <a:cs typeface="Arial"/>
              </a:rPr>
              <a:t> </a:t>
            </a:r>
            <a:r>
              <a:rPr dirty="0" sz="1800" spc="-150" i="1">
                <a:latin typeface="Arial"/>
                <a:cs typeface="Arial"/>
              </a:rPr>
              <a:t>India</a:t>
            </a:r>
            <a:r>
              <a:rPr dirty="0" sz="1800" spc="-90" i="1">
                <a:latin typeface="Arial"/>
                <a:cs typeface="Arial"/>
              </a:rPr>
              <a:t> </a:t>
            </a:r>
            <a:r>
              <a:rPr dirty="0" sz="1800" spc="-135" i="1">
                <a:latin typeface="Arial"/>
                <a:cs typeface="Arial"/>
              </a:rPr>
              <a:t>travel</a:t>
            </a:r>
            <a:r>
              <a:rPr dirty="0" sz="1800" spc="-40" i="1">
                <a:latin typeface="Arial"/>
                <a:cs typeface="Arial"/>
              </a:rPr>
              <a:t> </a:t>
            </a:r>
            <a:r>
              <a:rPr dirty="0" sz="1800" spc="-160" i="1">
                <a:latin typeface="Arial"/>
                <a:cs typeface="Arial"/>
              </a:rPr>
              <a:t>planning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65" i="1">
                <a:latin typeface="Arial"/>
                <a:cs typeface="Arial"/>
              </a:rPr>
              <a:t>experience.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680" rIns="0" bIns="0" rtlCol="0" vert="horz">
            <a:spAutoFit/>
          </a:bodyPr>
          <a:lstStyle/>
          <a:p>
            <a:pPr marL="537845">
              <a:lnSpc>
                <a:spcPct val="100000"/>
              </a:lnSpc>
              <a:spcBef>
                <a:spcPts val="100"/>
              </a:spcBef>
            </a:pPr>
            <a:r>
              <a:rPr dirty="0"/>
              <a:t>Token</a:t>
            </a:r>
            <a:r>
              <a:rPr dirty="0" spc="-65"/>
              <a:t> </a:t>
            </a:r>
            <a:r>
              <a:rPr dirty="0" spc="-2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1038225"/>
            <a:ext cx="11982450" cy="5476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85"/>
              <a:t> </a:t>
            </a:r>
            <a:r>
              <a:rPr dirty="0"/>
              <a:t>Output</a:t>
            </a:r>
            <a:r>
              <a:rPr dirty="0" spc="-2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819150"/>
            <a:ext cx="119824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85"/>
              <a:t> </a:t>
            </a:r>
            <a:r>
              <a:rPr dirty="0"/>
              <a:t>Output</a:t>
            </a:r>
            <a:r>
              <a:rPr dirty="0" spc="-2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819149"/>
            <a:ext cx="11982450" cy="6038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85"/>
              <a:t> </a:t>
            </a:r>
            <a:r>
              <a:rPr dirty="0"/>
              <a:t>Output</a:t>
            </a:r>
            <a:r>
              <a:rPr dirty="0" spc="-25"/>
              <a:t> </a:t>
            </a:r>
            <a:r>
              <a:rPr dirty="0" spc="-10"/>
              <a:t>Screenshot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7" y="3456559"/>
            <a:ext cx="10541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7" y="4493831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819149"/>
            <a:ext cx="11982450" cy="60388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179" rIns="0" bIns="0" rtlCol="0" vert="horz">
            <a:spAutoFit/>
          </a:bodyPr>
          <a:lstStyle/>
          <a:p>
            <a:pPr marL="613410">
              <a:lnSpc>
                <a:spcPct val="100000"/>
              </a:lnSpc>
              <a:spcBef>
                <a:spcPts val="100"/>
              </a:spcBef>
            </a:pPr>
            <a:r>
              <a:rPr dirty="0"/>
              <a:t>Novelty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Uniqueness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614" y="1232217"/>
            <a:ext cx="11134725" cy="55276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62865">
              <a:lnSpc>
                <a:spcPct val="100800"/>
              </a:lnSpc>
              <a:spcBef>
                <a:spcPts val="85"/>
              </a:spcBef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proposed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Bob: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India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Planner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Agent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stands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combining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Agentic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real-</a:t>
            </a:r>
            <a:r>
              <a:rPr dirty="0" sz="1800" spc="-20" b="1">
                <a:latin typeface="Arial"/>
                <a:cs typeface="Arial"/>
              </a:rPr>
              <a:t>time </a:t>
            </a:r>
            <a:r>
              <a:rPr dirty="0" sz="1800" b="1">
                <a:latin typeface="Arial"/>
                <a:cs typeface="Arial"/>
              </a:rPr>
              <a:t>information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retrieval,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personalization,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autonomous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single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system. </a:t>
            </a:r>
            <a:r>
              <a:rPr dirty="0" sz="1800" b="1">
                <a:latin typeface="Arial"/>
                <a:cs typeface="Arial"/>
              </a:rPr>
              <a:t>Agentic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Intelligence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IBM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Bob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agents 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understand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travel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requirements,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tasks,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coordinate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different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travel-</a:t>
            </a:r>
            <a:r>
              <a:rPr dirty="0" sz="1800">
                <a:latin typeface="Arial MT"/>
                <a:cs typeface="Arial MT"/>
              </a:rPr>
              <a:t>related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activities.</a:t>
            </a:r>
            <a:endParaRPr sz="1800">
              <a:latin typeface="Arial MT"/>
              <a:cs typeface="Arial MT"/>
            </a:endParaRPr>
          </a:p>
          <a:p>
            <a:pPr marL="12700" marR="59055">
              <a:lnSpc>
                <a:spcPts val="2100"/>
              </a:lnSpc>
              <a:spcBef>
                <a:spcPts val="135"/>
              </a:spcBef>
            </a:pPr>
            <a:r>
              <a:rPr dirty="0" sz="1800" b="1">
                <a:latin typeface="Arial"/>
                <a:cs typeface="Arial"/>
              </a:rPr>
              <a:t>Personalized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customized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itineraries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destination,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duration,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budget,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style,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user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preferences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 marR="995044">
              <a:lnSpc>
                <a:spcPts val="2180"/>
              </a:lnSpc>
              <a:spcBef>
                <a:spcPts val="15"/>
              </a:spcBef>
            </a:pPr>
            <a:r>
              <a:rPr dirty="0" sz="1800" spc="-10" b="1">
                <a:latin typeface="Arial"/>
                <a:cs typeface="Arial"/>
              </a:rPr>
              <a:t>Real-</a:t>
            </a: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Information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Integrates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travel-related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tools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services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updated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information </a:t>
            </a:r>
            <a:r>
              <a:rPr dirty="0" sz="1800">
                <a:latin typeface="Arial MT"/>
                <a:cs typeface="Arial MT"/>
              </a:rPr>
              <a:t>about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weather,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attractions,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hotels,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routes,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options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dirty="0" sz="1800" spc="-10" b="1">
                <a:latin typeface="Arial"/>
                <a:cs typeface="Arial"/>
              </a:rPr>
              <a:t>Budget-</a:t>
            </a:r>
            <a:r>
              <a:rPr dirty="0" sz="1800" b="1">
                <a:latin typeface="Arial"/>
                <a:cs typeface="Arial"/>
              </a:rPr>
              <a:t>Aware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Planning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Estimates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expenses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provides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clear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budget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breakdown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while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suggesting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suitable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travel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options.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2180"/>
              </a:lnSpc>
              <a:spcBef>
                <a:spcPts val="25"/>
              </a:spcBef>
            </a:pPr>
            <a:r>
              <a:rPr dirty="0" sz="1800" spc="-10" b="1">
                <a:latin typeface="Arial"/>
                <a:cs typeface="Arial"/>
              </a:rPr>
              <a:t>Multi-</a:t>
            </a:r>
            <a:r>
              <a:rPr dirty="0" sz="1800" b="1">
                <a:latin typeface="Arial"/>
                <a:cs typeface="Arial"/>
              </a:rPr>
              <a:t>Agent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/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Tool-</a:t>
            </a:r>
            <a:r>
              <a:rPr dirty="0" sz="1800" b="1">
                <a:latin typeface="Arial"/>
                <a:cs typeface="Arial"/>
              </a:rPr>
              <a:t>Based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Approach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Specialized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handle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tasks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such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destination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discovery, </a:t>
            </a:r>
            <a:r>
              <a:rPr dirty="0" sz="1800" b="1">
                <a:latin typeface="Arial"/>
                <a:cs typeface="Arial"/>
              </a:rPr>
              <a:t>attraction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search,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itinerary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generation,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cost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calculation, and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assistance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dirty="0" sz="1800" b="1">
                <a:latin typeface="Arial"/>
                <a:cs typeface="Arial"/>
              </a:rPr>
              <a:t>Conversational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Adaptation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modify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their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requirements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follow-up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prompts,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IBM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Bob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dynamically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updates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optimizes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plan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 marR="177800">
              <a:lnSpc>
                <a:spcPts val="2100"/>
              </a:lnSpc>
              <a:spcBef>
                <a:spcPts val="140"/>
              </a:spcBef>
            </a:pPr>
            <a:r>
              <a:rPr dirty="0" sz="1800" spc="-10" b="1">
                <a:latin typeface="Arial"/>
                <a:cs typeface="Arial"/>
              </a:rPr>
              <a:t>India-</a:t>
            </a:r>
            <a:r>
              <a:rPr dirty="0" sz="1800" b="1">
                <a:latin typeface="Arial"/>
                <a:cs typeface="Arial"/>
              </a:rPr>
              <a:t>Focused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Experience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Designed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specifically for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exploring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Indian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destinations,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attractions,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culture, </a:t>
            </a:r>
            <a:r>
              <a:rPr dirty="0" sz="1800" b="1">
                <a:latin typeface="Arial"/>
                <a:cs typeface="Arial"/>
              </a:rPr>
              <a:t>food,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transportation,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experiences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700" marR="847725">
              <a:lnSpc>
                <a:spcPts val="2180"/>
              </a:lnSpc>
              <a:spcBef>
                <a:spcPts val="15"/>
              </a:spcBef>
            </a:pP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watsonx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Integration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Built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around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watsonx.ai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capabilities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reasoning, </a:t>
            </a:r>
            <a:r>
              <a:rPr dirty="0" sz="1800">
                <a:latin typeface="Arial MT"/>
                <a:cs typeface="Arial MT"/>
              </a:rPr>
              <a:t>orchestration,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conversational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assistance.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dirty="0" sz="1800" b="1">
                <a:latin typeface="Arial"/>
                <a:cs typeface="Arial"/>
              </a:rPr>
              <a:t>Proactive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Assistance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beyond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static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helping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plan,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refine,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Arial"/>
                <a:cs typeface="Arial"/>
              </a:rPr>
              <a:t>optimize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their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complete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journey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055" rIns="0" bIns="0" rtlCol="0" vert="horz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dirty="0" spc="-30"/>
              <a:t> </a:t>
            </a:r>
            <a:r>
              <a:rPr dirty="0"/>
              <a:t>Hub</a:t>
            </a:r>
            <a:r>
              <a:rPr dirty="0" spc="-15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Git</a:t>
            </a:r>
            <a:r>
              <a:rPr dirty="0" spc="-10"/>
              <a:t> </a:t>
            </a:r>
            <a:r>
              <a:rPr dirty="0"/>
              <a:t>Hub</a:t>
            </a:r>
            <a:r>
              <a:rPr dirty="0" spc="-10"/>
              <a:t> </a:t>
            </a:r>
            <a:r>
              <a:rPr dirty="0" spc="-20"/>
              <a:t>Link</a:t>
            </a:r>
          </a:p>
          <a:p>
            <a:pPr marL="128905">
              <a:lnSpc>
                <a:spcPct val="100000"/>
              </a:lnSpc>
              <a:spcBef>
                <a:spcPts val="1385"/>
              </a:spcBef>
            </a:pPr>
            <a:r>
              <a:rPr dirty="0" i="1">
                <a:latin typeface="Arial"/>
                <a:cs typeface="Arial"/>
              </a:rPr>
              <a:t>Public</a:t>
            </a:r>
            <a:r>
              <a:rPr dirty="0" spc="-2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GitHub</a:t>
            </a:r>
            <a:r>
              <a:rPr dirty="0" spc="-4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Repository</a:t>
            </a:r>
            <a:r>
              <a:rPr dirty="0" b="0" i="1">
                <a:latin typeface="Arial"/>
                <a:cs typeface="Arial"/>
              </a:rPr>
              <a:t>:</a:t>
            </a:r>
            <a:r>
              <a:rPr dirty="0" spc="-2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IBM</a:t>
            </a:r>
            <a:r>
              <a:rPr dirty="0" spc="-8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Bob</a:t>
            </a:r>
            <a:r>
              <a:rPr dirty="0" spc="-80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–</a:t>
            </a:r>
            <a:r>
              <a:rPr dirty="0" spc="-55" b="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India</a:t>
            </a:r>
            <a:r>
              <a:rPr dirty="0" spc="-9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Travel</a:t>
            </a:r>
            <a:r>
              <a:rPr dirty="0" spc="-2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Planner</a:t>
            </a:r>
            <a:r>
              <a:rPr dirty="0" spc="-1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Agent</a:t>
            </a:r>
          </a:p>
          <a:p>
            <a:pPr marL="128905">
              <a:lnSpc>
                <a:spcPct val="100000"/>
              </a:lnSpc>
              <a:spcBef>
                <a:spcPts val="1385"/>
              </a:spcBef>
            </a:pPr>
            <a:r>
              <a:rPr dirty="0" b="0" i="1">
                <a:latin typeface="Arial"/>
                <a:cs typeface="Arial"/>
              </a:rPr>
              <a:t>Working</a:t>
            </a:r>
            <a:r>
              <a:rPr dirty="0" spc="-60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URL:</a:t>
            </a:r>
            <a:r>
              <a:rPr dirty="0" spc="-30" b="0" i="1">
                <a:latin typeface="Arial"/>
                <a:cs typeface="Arial"/>
              </a:rPr>
              <a:t> </a:t>
            </a:r>
            <a:r>
              <a:rPr dirty="0" u="sng" spc="-10" b="0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GitHub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735"/>
              </a:spcBef>
            </a:pPr>
          </a:p>
          <a:p>
            <a:pPr marL="128905">
              <a:lnSpc>
                <a:spcPct val="100000"/>
              </a:lnSpc>
            </a:pPr>
            <a:r>
              <a:rPr dirty="0" b="0" i="1">
                <a:latin typeface="Arial"/>
                <a:cs typeface="Arial"/>
              </a:rPr>
              <a:t>Repository</a:t>
            </a:r>
            <a:r>
              <a:rPr dirty="0" spc="1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includes:</a:t>
            </a:r>
            <a:r>
              <a:rPr dirty="0" spc="-1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All</a:t>
            </a:r>
            <a:r>
              <a:rPr dirty="0" spc="-55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Agent-</a:t>
            </a:r>
            <a:r>
              <a:rPr dirty="0" b="0" i="1">
                <a:latin typeface="Arial"/>
                <a:cs typeface="Arial"/>
              </a:rPr>
              <a:t>relevant</a:t>
            </a:r>
            <a:r>
              <a:rPr dirty="0" spc="-7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IBM</a:t>
            </a:r>
            <a:r>
              <a:rPr dirty="0" spc="-7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Cloud/project</a:t>
            </a:r>
            <a:r>
              <a:rPr dirty="0" spc="-10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files,</a:t>
            </a:r>
            <a:r>
              <a:rPr dirty="0" spc="-75" b="0" i="1">
                <a:latin typeface="Arial"/>
                <a:cs typeface="Arial"/>
              </a:rPr>
              <a:t> </a:t>
            </a:r>
            <a:r>
              <a:rPr dirty="0" b="0" i="1">
                <a:latin typeface="Arial"/>
                <a:cs typeface="Arial"/>
              </a:rPr>
              <a:t>Problem</a:t>
            </a:r>
            <a:r>
              <a:rPr dirty="0" spc="-75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Statement</a:t>
            </a:r>
          </a:p>
          <a:p>
            <a:pPr marL="63500">
              <a:lnSpc>
                <a:spcPct val="100000"/>
              </a:lnSpc>
              <a:spcBef>
                <a:spcPts val="1385"/>
              </a:spcBef>
            </a:pPr>
            <a:r>
              <a:rPr dirty="0" baseline="19519" sz="2775" spc="-914" b="0">
                <a:latin typeface="Times New Roman"/>
                <a:cs typeface="Times New Roman"/>
              </a:rPr>
              <a:t>·</a:t>
            </a:r>
            <a:r>
              <a:rPr dirty="0" sz="1850" spc="30" b="0" i="1">
                <a:latin typeface="Arial"/>
                <a:cs typeface="Arial"/>
              </a:rPr>
              <a:t>P</a:t>
            </a:r>
            <a:r>
              <a:rPr dirty="0" sz="1850" spc="-70" b="0" i="1">
                <a:latin typeface="Arial"/>
                <a:cs typeface="Arial"/>
              </a:rPr>
              <a:t>D</a:t>
            </a:r>
            <a:r>
              <a:rPr dirty="0" sz="1850" spc="-10" b="0" i="1">
                <a:latin typeface="Arial"/>
                <a:cs typeface="Arial"/>
              </a:rPr>
              <a:t>F</a:t>
            </a:r>
            <a:r>
              <a:rPr dirty="0" sz="1850" spc="10" b="0" i="1">
                <a:latin typeface="Arial"/>
                <a:cs typeface="Arial"/>
              </a:rPr>
              <a:t>,</a:t>
            </a:r>
            <a:r>
              <a:rPr dirty="0" sz="1850" b="0" i="1">
                <a:latin typeface="Arial"/>
                <a:cs typeface="Arial"/>
              </a:rPr>
              <a:t> Project</a:t>
            </a:r>
            <a:r>
              <a:rPr dirty="0" sz="1850" spc="-50" b="0" i="1">
                <a:latin typeface="Arial"/>
                <a:cs typeface="Arial"/>
              </a:rPr>
              <a:t> </a:t>
            </a:r>
            <a:r>
              <a:rPr dirty="0" sz="1850" b="0" i="1">
                <a:latin typeface="Arial"/>
                <a:cs typeface="Arial"/>
              </a:rPr>
              <a:t>Presentation</a:t>
            </a:r>
            <a:r>
              <a:rPr dirty="0" sz="1850" spc="-25" b="0" i="1">
                <a:latin typeface="Arial"/>
                <a:cs typeface="Arial"/>
              </a:rPr>
              <a:t> </a:t>
            </a:r>
            <a:r>
              <a:rPr dirty="0" sz="1850" b="0" i="1">
                <a:latin typeface="Arial"/>
                <a:cs typeface="Arial"/>
              </a:rPr>
              <a:t>PPTX,</a:t>
            </a:r>
            <a:r>
              <a:rPr dirty="0" sz="1850" spc="-20" b="0" i="1">
                <a:latin typeface="Arial"/>
                <a:cs typeface="Arial"/>
              </a:rPr>
              <a:t> </a:t>
            </a:r>
            <a:r>
              <a:rPr dirty="0" sz="1850" b="0" i="1">
                <a:latin typeface="Arial"/>
                <a:cs typeface="Arial"/>
              </a:rPr>
              <a:t>and</a:t>
            </a:r>
            <a:r>
              <a:rPr dirty="0" sz="1850" spc="-25" b="0" i="1">
                <a:latin typeface="Arial"/>
                <a:cs typeface="Arial"/>
              </a:rPr>
              <a:t> </a:t>
            </a:r>
            <a:r>
              <a:rPr dirty="0" sz="1850" b="0" i="1">
                <a:latin typeface="Arial"/>
                <a:cs typeface="Arial"/>
              </a:rPr>
              <a:t>other</a:t>
            </a:r>
            <a:r>
              <a:rPr dirty="0" sz="1850" spc="-50" b="0" i="1">
                <a:latin typeface="Arial"/>
                <a:cs typeface="Arial"/>
              </a:rPr>
              <a:t> </a:t>
            </a:r>
            <a:r>
              <a:rPr dirty="0" sz="1850" b="0" i="1">
                <a:latin typeface="Arial"/>
                <a:cs typeface="Arial"/>
              </a:rPr>
              <a:t>supporting</a:t>
            </a:r>
            <a:r>
              <a:rPr dirty="0" sz="1850" spc="-95" b="0" i="1">
                <a:latin typeface="Arial"/>
                <a:cs typeface="Arial"/>
              </a:rPr>
              <a:t> </a:t>
            </a:r>
            <a:r>
              <a:rPr dirty="0" sz="1850" spc="-10" b="0" i="1">
                <a:latin typeface="Arial"/>
                <a:cs typeface="Arial"/>
              </a:rPr>
              <a:t>files.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065"/>
              </a:spcBef>
            </a:pPr>
          </a:p>
          <a:p>
            <a:pPr marL="63500">
              <a:lnSpc>
                <a:spcPct val="100000"/>
              </a:lnSpc>
            </a:pPr>
            <a:r>
              <a:rPr dirty="0" spc="-50" b="0">
                <a:latin typeface="Times New Roman"/>
                <a:cs typeface="Times New Roman"/>
              </a:rPr>
              <a:t>·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6817" y="5530532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055" rIns="0" bIns="0" rtlCol="0" vert="horz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75"/>
              <a:t> </a:t>
            </a:r>
            <a:r>
              <a:rPr dirty="0" spc="-2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6017" y="3466782"/>
            <a:ext cx="9654540" cy="3442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8445" indent="-194945">
              <a:lnSpc>
                <a:spcPts val="2025"/>
              </a:lnSpc>
              <a:buClr>
                <a:srgbClr val="2B3541"/>
              </a:buClr>
              <a:buSzPct val="119354"/>
              <a:buFont typeface="Times New Roman"/>
              <a:buChar char="·"/>
              <a:tabLst>
                <a:tab pos="258445" algn="l"/>
              </a:tabLst>
            </a:pPr>
            <a:r>
              <a:rPr dirty="0" sz="1550" b="1" i="1">
                <a:latin typeface="Arial"/>
                <a:cs typeface="Arial"/>
              </a:rPr>
              <a:t>1.</a:t>
            </a:r>
            <a:r>
              <a:rPr dirty="0" sz="1550" spc="13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Real-Time</a:t>
            </a:r>
            <a:r>
              <a:rPr dirty="0" sz="1550" spc="14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Travel</a:t>
            </a:r>
            <a:r>
              <a:rPr dirty="0" sz="1550" spc="13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Data</a:t>
            </a:r>
            <a:r>
              <a:rPr dirty="0" sz="1550" spc="14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Integration</a:t>
            </a:r>
            <a:r>
              <a:rPr dirty="0" sz="1550" spc="190" b="1" i="1">
                <a:latin typeface="Arial"/>
                <a:cs typeface="Arial"/>
              </a:rPr>
              <a:t> </a:t>
            </a:r>
            <a:r>
              <a:rPr dirty="0" sz="1550" spc="-50" b="1" i="1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  <a:p>
            <a:pPr marL="258445">
              <a:lnSpc>
                <a:spcPts val="1839"/>
              </a:lnSpc>
            </a:pPr>
            <a:r>
              <a:rPr dirty="0" sz="1550" i="1">
                <a:latin typeface="Arial"/>
                <a:cs typeface="Arial"/>
              </a:rPr>
              <a:t>The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system</a:t>
            </a:r>
            <a:r>
              <a:rPr dirty="0" sz="1550" spc="7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can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be</a:t>
            </a:r>
            <a:r>
              <a:rPr dirty="0" sz="1550" spc="6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enhanced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by</a:t>
            </a:r>
            <a:r>
              <a:rPr dirty="0" sz="1550" spc="8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integrating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real-time</a:t>
            </a:r>
            <a:r>
              <a:rPr dirty="0" sz="1550" spc="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APIs</a:t>
            </a:r>
            <a:r>
              <a:rPr dirty="0" sz="1550" spc="7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for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flights,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hotels,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weather,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maps,</a:t>
            </a:r>
            <a:endParaRPr sz="1550">
              <a:latin typeface="Arial"/>
              <a:cs typeface="Arial"/>
            </a:endParaRPr>
          </a:p>
          <a:p>
            <a:pPr marL="258445" marR="55880">
              <a:lnSpc>
                <a:spcPct val="105000"/>
              </a:lnSpc>
            </a:pPr>
            <a:r>
              <a:rPr dirty="0" sz="1550" i="1">
                <a:latin typeface="Arial"/>
                <a:cs typeface="Arial"/>
              </a:rPr>
              <a:t>transportation,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and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tourist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attractions.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This</a:t>
            </a:r>
            <a:r>
              <a:rPr dirty="0" sz="1550" spc="1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will</a:t>
            </a:r>
            <a:r>
              <a:rPr dirty="0" sz="1550" spc="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enable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IBM</a:t>
            </a:r>
            <a:r>
              <a:rPr dirty="0" sz="1550" spc="1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Bob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provide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more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accurate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and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spc="-25" i="1">
                <a:latin typeface="Arial"/>
                <a:cs typeface="Arial"/>
              </a:rPr>
              <a:t>up-</a:t>
            </a:r>
            <a:r>
              <a:rPr dirty="0" sz="1550" i="1">
                <a:latin typeface="Arial"/>
                <a:cs typeface="Arial"/>
              </a:rPr>
              <a:t>to-</a:t>
            </a:r>
            <a:r>
              <a:rPr dirty="0" sz="1550" spc="-20" i="1">
                <a:latin typeface="Arial"/>
                <a:cs typeface="Arial"/>
              </a:rPr>
              <a:t>date </a:t>
            </a:r>
            <a:r>
              <a:rPr dirty="0" sz="1550" i="1">
                <a:latin typeface="Arial"/>
                <a:cs typeface="Arial"/>
              </a:rPr>
              <a:t>travel</a:t>
            </a:r>
            <a:r>
              <a:rPr dirty="0" sz="1550" spc="11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recommendations.</a:t>
            </a:r>
            <a:endParaRPr sz="1550">
              <a:latin typeface="Arial"/>
              <a:cs typeface="Arial"/>
            </a:endParaRPr>
          </a:p>
          <a:p>
            <a:pPr marL="258445" indent="-194945">
              <a:lnSpc>
                <a:spcPts val="1935"/>
              </a:lnSpc>
              <a:buClr>
                <a:srgbClr val="2B3541"/>
              </a:buClr>
              <a:buSzPct val="119354"/>
              <a:buFont typeface="Times New Roman"/>
              <a:buChar char="·"/>
              <a:tabLst>
                <a:tab pos="258445" algn="l"/>
              </a:tabLst>
            </a:pPr>
            <a:r>
              <a:rPr dirty="0" sz="1550" b="1" i="1">
                <a:latin typeface="Arial"/>
                <a:cs typeface="Arial"/>
              </a:rPr>
              <a:t>2.</a:t>
            </a:r>
            <a:r>
              <a:rPr dirty="0" sz="1550" spc="13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AI-Powered</a:t>
            </a:r>
            <a:r>
              <a:rPr dirty="0" sz="1550" spc="13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Voice</a:t>
            </a:r>
            <a:r>
              <a:rPr dirty="0" sz="1550" spc="14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&amp;</a:t>
            </a:r>
            <a:r>
              <a:rPr dirty="0" sz="1550" spc="10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Multilingual</a:t>
            </a:r>
            <a:r>
              <a:rPr dirty="0" sz="1550" spc="13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Support</a:t>
            </a:r>
            <a:r>
              <a:rPr dirty="0" sz="1550" spc="245" b="1" i="1">
                <a:latin typeface="Arial"/>
                <a:cs typeface="Arial"/>
              </a:rPr>
              <a:t> </a:t>
            </a:r>
            <a:r>
              <a:rPr dirty="0" sz="1550" spc="-50" b="1" i="1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  <a:p>
            <a:pPr marL="258445" marR="180340">
              <a:lnSpc>
                <a:spcPct val="101000"/>
              </a:lnSpc>
              <a:spcBef>
                <a:spcPts val="10"/>
              </a:spcBef>
            </a:pP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9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voice-enabled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assistant</a:t>
            </a:r>
            <a:r>
              <a:rPr dirty="0" sz="1550" spc="9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with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support</a:t>
            </a:r>
            <a:r>
              <a:rPr dirty="0" sz="1550" spc="9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for</a:t>
            </a:r>
            <a:r>
              <a:rPr dirty="0" sz="1550" spc="8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Indian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regional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languages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can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be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added,</a:t>
            </a:r>
            <a:r>
              <a:rPr dirty="0" sz="1550" spc="9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allowing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users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spc="-25" i="1">
                <a:latin typeface="Arial"/>
                <a:cs typeface="Arial"/>
              </a:rPr>
              <a:t>to </a:t>
            </a:r>
            <a:r>
              <a:rPr dirty="0" sz="1550" i="1">
                <a:latin typeface="Arial"/>
                <a:cs typeface="Arial"/>
              </a:rPr>
              <a:t>interact</a:t>
            </a:r>
            <a:r>
              <a:rPr dirty="0" sz="1550" spc="11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naturally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through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speech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and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making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the</a:t>
            </a:r>
            <a:r>
              <a:rPr dirty="0" sz="1550" spc="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travel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planner</a:t>
            </a:r>
            <a:r>
              <a:rPr dirty="0" sz="1550" spc="19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more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accessible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</a:t>
            </a:r>
            <a:r>
              <a:rPr dirty="0" sz="1550" spc="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wider</a:t>
            </a:r>
            <a:r>
              <a:rPr dirty="0" sz="1550" spc="10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population.</a:t>
            </a:r>
            <a:endParaRPr sz="1550">
              <a:latin typeface="Arial"/>
              <a:cs typeface="Arial"/>
            </a:endParaRPr>
          </a:p>
          <a:p>
            <a:pPr marL="258445">
              <a:lnSpc>
                <a:spcPts val="1760"/>
              </a:lnSpc>
              <a:spcBef>
                <a:spcPts val="95"/>
              </a:spcBef>
            </a:pPr>
            <a:r>
              <a:rPr dirty="0" sz="1550" b="1" i="1">
                <a:latin typeface="Arial"/>
                <a:cs typeface="Arial"/>
              </a:rPr>
              <a:t>3.</a:t>
            </a:r>
            <a:r>
              <a:rPr dirty="0" sz="1550" spc="13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Smart</a:t>
            </a:r>
            <a:r>
              <a:rPr dirty="0" sz="1550" spc="12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Booking</a:t>
            </a:r>
            <a:r>
              <a:rPr dirty="0" sz="1550" spc="13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&amp;</a:t>
            </a:r>
            <a:r>
              <a:rPr dirty="0" sz="1550" spc="100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Reservation</a:t>
            </a:r>
            <a:r>
              <a:rPr dirty="0" sz="1550" spc="135" b="1" i="1">
                <a:latin typeface="Arial"/>
                <a:cs typeface="Arial"/>
              </a:rPr>
              <a:t> </a:t>
            </a:r>
            <a:r>
              <a:rPr dirty="0" sz="1550" b="1" i="1">
                <a:latin typeface="Arial"/>
                <a:cs typeface="Arial"/>
              </a:rPr>
              <a:t>Support</a:t>
            </a:r>
            <a:r>
              <a:rPr dirty="0" sz="1550" spc="125" b="1" i="1">
                <a:latin typeface="Arial"/>
                <a:cs typeface="Arial"/>
              </a:rPr>
              <a:t> </a:t>
            </a:r>
            <a:r>
              <a:rPr dirty="0" sz="1550" spc="-50" b="1" i="1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  <a:p>
            <a:pPr marL="258445" marR="109855" indent="-195580">
              <a:lnSpc>
                <a:spcPts val="1880"/>
              </a:lnSpc>
              <a:spcBef>
                <a:spcPts val="244"/>
              </a:spcBef>
              <a:buClr>
                <a:srgbClr val="2B3541"/>
              </a:buClr>
              <a:buSzPct val="119354"/>
              <a:buFont typeface="Times New Roman"/>
              <a:buChar char="·"/>
              <a:tabLst>
                <a:tab pos="258445" algn="l"/>
              </a:tabLst>
            </a:pPr>
            <a:r>
              <a:rPr dirty="0" sz="1550" i="1">
                <a:latin typeface="Arial"/>
                <a:cs typeface="Arial"/>
              </a:rPr>
              <a:t>The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system</a:t>
            </a:r>
            <a:r>
              <a:rPr dirty="0" sz="1550" spc="7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can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be</a:t>
            </a:r>
            <a:r>
              <a:rPr dirty="0" sz="1550" spc="6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extended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connect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with</a:t>
            </a:r>
            <a:r>
              <a:rPr dirty="0" sz="1550" spc="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flight,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hotel,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and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transportation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booking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services,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enabling </a:t>
            </a:r>
            <a:r>
              <a:rPr dirty="0" sz="1550" i="1">
                <a:latin typeface="Arial"/>
                <a:cs typeface="Arial"/>
              </a:rPr>
              <a:t>users</a:t>
            </a:r>
            <a:r>
              <a:rPr dirty="0" sz="1550" spc="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move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from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itinerary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planning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to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actual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reservations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through</a:t>
            </a:r>
            <a:r>
              <a:rPr dirty="0" sz="1550" spc="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single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platform.</a:t>
            </a:r>
            <a:endParaRPr sz="1550">
              <a:latin typeface="Arial"/>
              <a:cs typeface="Arial"/>
            </a:endParaRPr>
          </a:p>
          <a:p>
            <a:pPr lvl="1" marL="485775" indent="-227329">
              <a:lnSpc>
                <a:spcPct val="100000"/>
              </a:lnSpc>
              <a:spcBef>
                <a:spcPts val="20"/>
              </a:spcBef>
              <a:buAutoNum type="arabicPeriod" startAt="4"/>
              <a:tabLst>
                <a:tab pos="485775" algn="l"/>
              </a:tabLst>
            </a:pPr>
            <a:r>
              <a:rPr dirty="0" sz="1550" b="1">
                <a:latin typeface="Arial"/>
                <a:cs typeface="Arial"/>
              </a:rPr>
              <a:t>Dynamic</a:t>
            </a:r>
            <a:r>
              <a:rPr dirty="0" sz="1550" spc="25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Itinerary</a:t>
            </a:r>
            <a:r>
              <a:rPr dirty="0" sz="1550" spc="254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Optimization</a:t>
            </a:r>
            <a:r>
              <a:rPr dirty="0" sz="1550" spc="145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  <a:p>
            <a:pPr marL="258445" marR="192405" indent="57150">
              <a:lnSpc>
                <a:spcPts val="1950"/>
              </a:lnSpc>
              <a:spcBef>
                <a:spcPts val="10"/>
              </a:spcBef>
            </a:pPr>
            <a:r>
              <a:rPr dirty="0" sz="1550" i="1">
                <a:latin typeface="Arial"/>
                <a:cs typeface="Arial"/>
              </a:rPr>
              <a:t>IBM</a:t>
            </a:r>
            <a:r>
              <a:rPr dirty="0" sz="1550" spc="1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Bob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can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continuously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modify</a:t>
            </a:r>
            <a:r>
              <a:rPr dirty="0" sz="1550" spc="6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the</a:t>
            </a:r>
            <a:r>
              <a:rPr dirty="0" sz="1550" spc="12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travel</a:t>
            </a:r>
            <a:r>
              <a:rPr dirty="0" sz="1550" spc="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plan</a:t>
            </a:r>
            <a:r>
              <a:rPr dirty="0" sz="1550" spc="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based</a:t>
            </a:r>
            <a:r>
              <a:rPr dirty="0" sz="1550" spc="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on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weather</a:t>
            </a:r>
            <a:r>
              <a:rPr dirty="0" sz="1550" spc="10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changes,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traffic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conditions,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budget </a:t>
            </a:r>
            <a:r>
              <a:rPr dirty="0" sz="1550" i="1">
                <a:latin typeface="Arial"/>
                <a:cs typeface="Arial"/>
              </a:rPr>
              <a:t>changes,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cancellations,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and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user</a:t>
            </a:r>
            <a:r>
              <a:rPr dirty="0" sz="1550" spc="21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preferences,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providing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6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more</a:t>
            </a:r>
            <a:r>
              <a:rPr dirty="0" sz="1550" spc="15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flexible</a:t>
            </a:r>
            <a:r>
              <a:rPr dirty="0" sz="1550" spc="15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travel</a:t>
            </a:r>
            <a:r>
              <a:rPr dirty="0" sz="1550" spc="60" i="1">
                <a:latin typeface="Arial"/>
                <a:cs typeface="Arial"/>
              </a:rPr>
              <a:t> </a:t>
            </a:r>
            <a:r>
              <a:rPr dirty="0" sz="1550" spc="-10" i="1">
                <a:latin typeface="Arial"/>
                <a:cs typeface="Arial"/>
              </a:rPr>
              <a:t>experience.</a:t>
            </a:r>
            <a:endParaRPr sz="1550">
              <a:latin typeface="Arial"/>
              <a:cs typeface="Arial"/>
            </a:endParaRPr>
          </a:p>
          <a:p>
            <a:pPr lvl="1" marL="485775" indent="-227329">
              <a:lnSpc>
                <a:spcPct val="100000"/>
              </a:lnSpc>
              <a:spcBef>
                <a:spcPts val="15"/>
              </a:spcBef>
              <a:buAutoNum type="arabicPeriod" startAt="5"/>
              <a:tabLst>
                <a:tab pos="485775" algn="l"/>
              </a:tabLst>
            </a:pPr>
            <a:r>
              <a:rPr dirty="0" sz="1550" b="1">
                <a:latin typeface="Arial"/>
                <a:cs typeface="Arial"/>
              </a:rPr>
              <a:t>Location-Based</a:t>
            </a:r>
            <a:r>
              <a:rPr dirty="0" sz="1550" spc="3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Recommendations</a:t>
            </a:r>
            <a:r>
              <a:rPr dirty="0" sz="1550" spc="280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00"/>
              </a:spcBef>
            </a:pPr>
            <a:r>
              <a:rPr dirty="0"/>
              <a:t>Certificates</a:t>
            </a:r>
            <a:r>
              <a:rPr dirty="0" spc="-155"/>
              <a:t> </a:t>
            </a:r>
            <a:r>
              <a:rPr dirty="0" spc="-10"/>
              <a:t>Earned: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3675" y="914400"/>
            <a:ext cx="709612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Certificates</a:t>
            </a:r>
            <a:r>
              <a:rPr dirty="0" spc="-150"/>
              <a:t> </a:t>
            </a:r>
            <a:r>
              <a:rPr dirty="0" spc="-10"/>
              <a:t>Earned: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5075" y="1276350"/>
            <a:ext cx="7966499" cy="4245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950" y="2771775"/>
            <a:ext cx="5305424" cy="175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2026-09-11T14:46:02Z</dcterms:created>
  <dcterms:modified xsi:type="dcterms:W3CDTF">2026-09-11T14:46:02Z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2026-09-11T00:00:00Z</vt:filetime>
  </property>
</Properties>
</file>